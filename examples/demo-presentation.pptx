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Modüler bir iş akışının hata ayıklamayı ve sistemi geliştirmeyi neden kolaylaştırdığını açıklayın.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 tanımları ile yürütme akışının birbirinden ayrılmasının önemini vurgulayın.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JSON Schema'nın sistem bileşenleri arasında bir veri sözleşmesi görevi gördüğünü açıklayın.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Deponun kolayca test edilebilmesi için demonun ücretli bir yapay zeka API'sine ihtiyaç duymadığını açıklayın.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çıktısının değişebileceğini ve doğrulama katmanının bu nedenle önemli olduğunu açıklayın.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adaptörlerin tamamlanmış v1 özellikleri değil, sonraki geliştirme adımları olduğunu özellikle belirtin.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85800"/>
            <a:ext cx="73152" cy="5303520"/>
          </a:xfrm>
          <a:prstGeom prst="rect">
            <a:avLst/>
          </a:prstGeom>
          <a:solidFill>
            <a:srgbClr val="66F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9875520" cy="1463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000" b="1">
                <a:solidFill>
                  <a:srgbClr val="F0F3F8"/>
                </a:solidFill>
                <a:latin typeface="Arial"/>
              </a:rPr>
              <a:t>Prompt'tan Sunuma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71800"/>
            <a:ext cx="896112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0">
                <a:solidFill>
                  <a:srgbClr val="A3ABB8"/>
                </a:solidFill>
                <a:latin typeface="Arial"/>
              </a:rPr>
              <a:t>Ham girdileri sunuma hazır çıktılara dönüştüren modüler yapay zeka iş akışı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349240"/>
            <a:ext cx="5943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1">
                <a:solidFill>
                  <a:srgbClr val="66F1BE"/>
                </a:solidFill>
                <a:latin typeface="Arial"/>
              </a:rPr>
              <a:t>YAPAY ZEKA DESTEKLİ SUNUM OTOMASYONU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6F1BE"/>
                </a:solidFill>
                <a:latin typeface="Arial"/>
              </a:rPr>
              <a:t>SLAYT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500" b="1">
                <a:solidFill>
                  <a:srgbClr val="F0F3F8"/>
                </a:solidFill>
                <a:latin typeface="Arial"/>
              </a:rPr>
              <a:t>Sunum üretimi tek bir prompt değil, bir iş akışıdır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105156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A3ABB8"/>
                </a:solidFill>
                <a:latin typeface="Arial"/>
              </a:rPr>
              <a:t>Araştırma, anlatı, kalite güvencesi ve PPTX üretimini ayrı aşamalara bölmek iş akışını daha kontrol edilebilir hale getirir.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06040"/>
            <a:ext cx="5806440" cy="3246120"/>
          </a:xfrm>
          <a:prstGeom prst="roundRect">
            <a:avLst/>
          </a:prstGeom>
          <a:solidFill>
            <a:srgbClr val="11161F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907792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898648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Girdiler konu, not veya yapılandırılmış verilerden gelebilir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38144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429000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Yapay zeka yapılandırılmış sunum verisi üretir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68496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959352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Deterministik PPTX motoru düzenlenebilir PowerPoint dosyasını oluşturur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98848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489704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QA (Kalite Güvencesi) ayrı bir kontrol adımı olarak çalışır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606040"/>
            <a:ext cx="4709160" cy="3246120"/>
          </a:xfrm>
          <a:prstGeom prst="roundRect">
            <a:avLst/>
          </a:prstGeom>
          <a:solidFill>
            <a:srgbClr val="11161F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880360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6F1BE"/>
                </a:solidFill>
                <a:latin typeface="Arial"/>
              </a:rPr>
              <a:t>MODÜLER SKILL KATMANI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429000"/>
            <a:ext cx="1645920" cy="685800"/>
          </a:xfrm>
          <a:prstGeom prst="roundRect">
            <a:avLst/>
          </a:prstGeom>
          <a:solidFill>
            <a:srgbClr val="161D28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3F8"/>
                </a:solidFill>
                <a:latin typeface="Arial"/>
              </a:rPr>
              <a:t>ARAŞTIRMA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429000"/>
            <a:ext cx="1645920" cy="685800"/>
          </a:xfrm>
          <a:prstGeom prst="roundRect">
            <a:avLst/>
          </a:prstGeom>
          <a:solidFill>
            <a:srgbClr val="161D28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3F8"/>
                </a:solidFill>
                <a:latin typeface="Arial"/>
              </a:rPr>
              <a:t>SUNUM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4434840"/>
            <a:ext cx="1645920" cy="685800"/>
          </a:xfrm>
          <a:prstGeom prst="roundRect">
            <a:avLst/>
          </a:prstGeom>
          <a:solidFill>
            <a:srgbClr val="161D28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3F8"/>
                </a:solidFill>
                <a:latin typeface="Arial"/>
              </a:rPr>
              <a:t>DOKÜMAN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434840"/>
            <a:ext cx="1645920" cy="685800"/>
          </a:xfrm>
          <a:prstGeom prst="roundRect">
            <a:avLst/>
          </a:prstGeom>
          <a:solidFill>
            <a:srgbClr val="161D28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3F8"/>
                </a:solidFill>
                <a:latin typeface="Arial"/>
              </a:rPr>
              <a:t>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349240"/>
            <a:ext cx="2468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66F1BE"/>
                </a:solidFill>
                <a:latin typeface="Arial"/>
              </a:rPr>
              <a:t>ORKESTRASYON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A3ABB8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6F1BE"/>
                </a:solidFill>
                <a:latin typeface="Arial"/>
              </a:rPr>
              <a:t>SLAYT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500" b="1">
                <a:solidFill>
                  <a:srgbClr val="F0F3F8"/>
                </a:solidFill>
                <a:latin typeface="Arial"/>
              </a:rPr>
              <a:t>Skill'ler görevleri, workflow'lar çalışma sırasını tanımlar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105156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A3ABB8"/>
                </a:solidFill>
                <a:latin typeface="Arial"/>
              </a:rPr>
              <a:t>Yeniden kullanılabilir skill'ler sunum üretim kurallarını orkestrasyon mantığından bağımsız tutar.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06040"/>
            <a:ext cx="5806440" cy="3246120"/>
          </a:xfrm>
          <a:prstGeom prst="roundRect">
            <a:avLst/>
          </a:prstGeom>
          <a:solidFill>
            <a:srgbClr val="11161F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907792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898648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Araştırma Skill'i bir kanıt haritası oluşturur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38144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429000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Sunum Skill'i anlatı yapısını ve slaytları oluşturur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68496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959352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Doküman Skill'i uzun içerikleri yapılandırılmış sunum girdisine dönüştürür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98848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489704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QA Skill'i yapısal ve içerik sorunlarını tespit eder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606040"/>
            <a:ext cx="4709160" cy="3246120"/>
          </a:xfrm>
          <a:prstGeom prst="roundRect">
            <a:avLst/>
          </a:prstGeom>
          <a:solidFill>
            <a:srgbClr val="11161F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880360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6F1BE"/>
                </a:solidFill>
                <a:latin typeface="Arial"/>
              </a:rPr>
              <a:t>MODÜLER SKILL KATMANI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429000"/>
            <a:ext cx="1645920" cy="685800"/>
          </a:xfrm>
          <a:prstGeom prst="roundRect">
            <a:avLst/>
          </a:prstGeom>
          <a:solidFill>
            <a:srgbClr val="161D28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3F8"/>
                </a:solidFill>
                <a:latin typeface="Arial"/>
              </a:rPr>
              <a:t>ARAŞTIRMA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429000"/>
            <a:ext cx="1645920" cy="685800"/>
          </a:xfrm>
          <a:prstGeom prst="roundRect">
            <a:avLst/>
          </a:prstGeom>
          <a:solidFill>
            <a:srgbClr val="161D28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3F8"/>
                </a:solidFill>
                <a:latin typeface="Arial"/>
              </a:rPr>
              <a:t>SUNUM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4434840"/>
            <a:ext cx="1645920" cy="685800"/>
          </a:xfrm>
          <a:prstGeom prst="roundRect">
            <a:avLst/>
          </a:prstGeom>
          <a:solidFill>
            <a:srgbClr val="161D28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3F8"/>
                </a:solidFill>
                <a:latin typeface="Arial"/>
              </a:rPr>
              <a:t>DOKÜMAN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434840"/>
            <a:ext cx="1645920" cy="685800"/>
          </a:xfrm>
          <a:prstGeom prst="roundRect">
            <a:avLst/>
          </a:prstGeom>
          <a:solidFill>
            <a:srgbClr val="161D28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3F8"/>
                </a:solidFill>
                <a:latin typeface="Arial"/>
              </a:rPr>
              <a:t>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349240"/>
            <a:ext cx="2468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66F1BE"/>
                </a:solidFill>
                <a:latin typeface="Arial"/>
              </a:rPr>
              <a:t>ORKESTRASYON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A3ABB8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6F1BE"/>
                </a:solidFill>
                <a:latin typeface="Arial"/>
              </a:rPr>
              <a:t>SLAYT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500" b="1">
                <a:solidFill>
                  <a:srgbClr val="F0F3F8"/>
                </a:solidFill>
                <a:latin typeface="Arial"/>
              </a:rPr>
              <a:t>Yapılandırılmış JSON, yapay zeka ile PowerPoint arasındaki sözleşmedir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105156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A3ABB8"/>
                </a:solidFill>
                <a:latin typeface="Arial"/>
              </a:rPr>
              <a:t>Model slaytları doğrudan değiştirmez; doğrulanabilir ve yapılandırılmış veri üretir.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06040"/>
            <a:ext cx="5806440" cy="3246120"/>
          </a:xfrm>
          <a:prstGeom prst="roundRect">
            <a:avLst/>
          </a:prstGeom>
          <a:solidFill>
            <a:srgbClr val="11161F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907792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898648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Her slayt için öngörülebilir alanlar kullanılır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38144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429000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PPTX üretiminden önce JSON doğrulaması yapılır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68496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959352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Prompt'lar değiştirilmeden PPTX motoru geliştirilebilir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98848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489704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PPTX kodu değiştirilmeden model sağlayıcısı değiştirilebilir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606040"/>
            <a:ext cx="4709160" cy="3246120"/>
          </a:xfrm>
          <a:prstGeom prst="roundRect">
            <a:avLst/>
          </a:prstGeom>
          <a:solidFill>
            <a:srgbClr val="11161F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880360"/>
            <a:ext cx="2286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6F1BE"/>
                </a:solidFill>
                <a:latin typeface="Arial"/>
              </a:rPr>
              <a:t>YAPILANDIRILMIŞ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337560"/>
            <a:ext cx="3794760" cy="2057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{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"title": "...",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"slides": [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  {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    "title": "...",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    "content": [...]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  }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]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A3ABB8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6F1BE"/>
                </a:solidFill>
                <a:latin typeface="Arial"/>
              </a:rPr>
              <a:t>SLAYT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500" b="1">
                <a:solidFill>
                  <a:srgbClr val="F0F3F8"/>
                </a:solidFill>
                <a:latin typeface="Arial"/>
              </a:rPr>
              <a:t>Demo, ücretli bir yapay zeka API'si olmadan çalışır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105156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A3ABB8"/>
                </a:solidFill>
                <a:latin typeface="Arial"/>
              </a:rPr>
              <a:t>Deterministik demo, PPTX motorunun herhangi bir yapay zeka sağlayıcısına ihtiyaç duymadan çalışabildiğini gösterir.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06040"/>
            <a:ext cx="5806440" cy="3246120"/>
          </a:xfrm>
          <a:prstGeom prst="roundRect">
            <a:avLst/>
          </a:prstGeom>
          <a:solidFill>
            <a:srgbClr val="11161F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907792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898648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python app.py --demo komutu çalıştırılır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38144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429000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Örnek sunum JSON'u doğrulanır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68496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959352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Düzenlenebilir bir .pptx dosyası oluşturulur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98848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489704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Yerel Ollama modeli ayrı olarak etkinleştirilebilir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606040"/>
            <a:ext cx="4709160" cy="3246120"/>
          </a:xfrm>
          <a:prstGeom prst="roundRect">
            <a:avLst/>
          </a:prstGeom>
          <a:solidFill>
            <a:srgbClr val="11161F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880360"/>
            <a:ext cx="2286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6F1BE"/>
                </a:solidFill>
                <a:latin typeface="Arial"/>
              </a:rPr>
              <a:t>YAPILANDIRILMIŞ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337560"/>
            <a:ext cx="3794760" cy="2057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{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"title": "...",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"slides": [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  {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    "title": "...",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    "content": [...]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  }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]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A3ABB8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6F1BE"/>
                </a:solidFill>
                <a:latin typeface="Arial"/>
              </a:rPr>
              <a:t>SLAYT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500" b="1">
                <a:solidFill>
                  <a:srgbClr val="F0F3F8"/>
                </a:solidFill>
                <a:latin typeface="Arial"/>
              </a:rPr>
              <a:t>Yerel yapay zeka, mimariyi model sağlayıcısından bağımsız tutar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105156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A3ABB8"/>
                </a:solidFill>
                <a:latin typeface="Arial"/>
              </a:rPr>
              <a:t>Ollama sunum JSON'unu yerel olarak üretirken iş akışının geri kalanı aynı şekilde çalışmaya devam eder.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06040"/>
            <a:ext cx="5806440" cy="3246120"/>
          </a:xfrm>
          <a:prstGeom prst="roundRect">
            <a:avLst/>
          </a:prstGeom>
          <a:solidFill>
            <a:srgbClr val="11161F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907792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898648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Yerel model Sunum Skill'ini kullanır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38144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429000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Modelden yalnızca yapılandırılmış JSON çıktısı istenir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68496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959352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Şema doğrulaması hatalı çıktıları yakalar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98848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489704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Aynı PPTX motoru nihai PowerPoint dosyasını üretir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606040"/>
            <a:ext cx="4709160" cy="3246120"/>
          </a:xfrm>
          <a:prstGeom prst="roundRect">
            <a:avLst/>
          </a:prstGeom>
          <a:solidFill>
            <a:srgbClr val="11161F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880360"/>
            <a:ext cx="2286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6F1BE"/>
                </a:solidFill>
                <a:latin typeface="Arial"/>
              </a:rPr>
              <a:t>YAPILANDIRILMIŞ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337560"/>
            <a:ext cx="3794760" cy="2057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{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"title": "...",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"slides": [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  {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    "title": "...",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    "content": [...]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  }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  ]</a:t>
            </a:r>
            <a:br/>
            <a:r>
              <a:rPr sz="1200" b="0">
                <a:solidFill>
                  <a:srgbClr val="F0F3F8"/>
                </a:solidFill>
                <a:latin typeface="Arial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A3ABB8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6F1BE"/>
                </a:solidFill>
                <a:latin typeface="Arial"/>
              </a:rPr>
              <a:t>SLAYT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500" b="1">
                <a:solidFill>
                  <a:srgbClr val="F0F3F8"/>
                </a:solidFill>
                <a:latin typeface="Arial"/>
              </a:rPr>
              <a:t>Sonraki geliştirme alanı: daha zengin doküman girdileri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105156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A3ABB8"/>
                </a:solidFill>
                <a:latin typeface="Arial"/>
              </a:rPr>
              <a:t>Mimari, gelecekte PDF, DOCX ve URL adaptörlerinin iş akışına eklenebileceği şekilde genişletilebilir olarak tasarlanmıştır.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06040"/>
            <a:ext cx="5806440" cy="3246120"/>
          </a:xfrm>
          <a:prstGeom prst="roundRect">
            <a:avLst/>
          </a:prstGeom>
          <a:solidFill>
            <a:srgbClr val="11161F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907792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898648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Planlanan PDF metin ve tablo çıkarma adaptörü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38144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429000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Planlanan DOCX bölüm bazlı ayrıştırma adaptörü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68496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959352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Planlanan URL içerik normalizasyonu ve kaynak takibi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98848"/>
            <a:ext cx="228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66F1BE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489704"/>
            <a:ext cx="4800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F0F3F8"/>
                </a:solidFill>
                <a:latin typeface="Arial"/>
              </a:rPr>
              <a:t>Planlanan kaynak düzeyinde atıf takibi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606040"/>
            <a:ext cx="4709160" cy="3246120"/>
          </a:xfrm>
          <a:prstGeom prst="roundRect">
            <a:avLst/>
          </a:prstGeom>
          <a:solidFill>
            <a:srgbClr val="11161F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880360"/>
            <a:ext cx="28346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6F1BE"/>
                </a:solidFill>
                <a:latin typeface="Arial"/>
              </a:rPr>
              <a:t>PLANLANAN GİRDİ ADAPTÖRLERİ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429000"/>
            <a:ext cx="1005840" cy="640080"/>
          </a:xfrm>
          <a:prstGeom prst="roundRect">
            <a:avLst/>
          </a:prstGeom>
          <a:solidFill>
            <a:srgbClr val="161D28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3F8"/>
                </a:solidFill>
                <a:latin typeface="Arial"/>
              </a:rPr>
              <a:t>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251960"/>
            <a:ext cx="1005840" cy="640080"/>
          </a:xfrm>
          <a:prstGeom prst="roundRect">
            <a:avLst/>
          </a:prstGeom>
          <a:solidFill>
            <a:srgbClr val="161D28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3F8"/>
                </a:solidFill>
                <a:latin typeface="Arial"/>
              </a:rPr>
              <a:t>DOCX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5074920"/>
            <a:ext cx="1005840" cy="640080"/>
          </a:xfrm>
          <a:prstGeom prst="roundRect">
            <a:avLst/>
          </a:prstGeom>
          <a:solidFill>
            <a:srgbClr val="161D28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3F8"/>
                </a:solidFill>
                <a:latin typeface="Arial"/>
              </a:rPr>
              <a:t>URL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4160520"/>
            <a:ext cx="1600200" cy="822960"/>
          </a:xfrm>
          <a:prstGeom prst="roundRect">
            <a:avLst/>
          </a:prstGeom>
          <a:solidFill>
            <a:srgbClr val="161D28"/>
          </a:solidFill>
          <a:ln>
            <a:solidFill>
              <a:srgbClr val="26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3F8"/>
                </a:solidFill>
                <a:latin typeface="Arial"/>
              </a:rPr>
              <a:t>NORMALİZE EDİLMİŞ</a:t>
            </a:r>
            <a:br/>
            <a:r>
              <a:rPr sz="1100" b="1">
                <a:solidFill>
                  <a:srgbClr val="F0F3F8"/>
                </a:solidFill>
                <a:latin typeface="Arial"/>
              </a:rPr>
              <a:t>KANIT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38160" y="3749039"/>
            <a:ext cx="1325880" cy="640081"/>
          </a:xfrm>
          <a:prstGeom prst="line">
            <a:avLst/>
          </a:prstGeom>
          <a:ln w="25400">
            <a:solidFill>
              <a:srgbClr val="66F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138160" y="4572000"/>
            <a:ext cx="1325880" cy="0"/>
          </a:xfrm>
          <a:prstGeom prst="line">
            <a:avLst/>
          </a:prstGeom>
          <a:ln w="25400">
            <a:solidFill>
              <a:srgbClr val="66F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138160" y="4754880"/>
            <a:ext cx="1325880" cy="640080"/>
          </a:xfrm>
          <a:prstGeom prst="line">
            <a:avLst/>
          </a:prstGeom>
          <a:ln w="25400">
            <a:solidFill>
              <a:srgbClr val="66F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A3ABB8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